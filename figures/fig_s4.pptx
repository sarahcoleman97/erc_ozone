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64008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AC3"/>
    <a:srgbClr val="66C2A6"/>
    <a:srgbClr val="8EA0CB"/>
    <a:srgbClr val="FC8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73"/>
  </p:normalViewPr>
  <p:slideViewPr>
    <p:cSldViewPr snapToGrid="0">
      <p:cViewPr>
        <p:scale>
          <a:sx n="146" d="100"/>
          <a:sy n="146" d="100"/>
        </p:scale>
        <p:origin x="2088" y="-2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BC535-F474-0C4B-9C1C-6ADF0531C9D1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1143000"/>
            <a:ext cx="2400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3B21F-7C03-DE4F-8FC1-B16DA476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9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3B21F-7C03-DE4F-8FC1-B16DA47665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89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346836"/>
            <a:ext cx="5440680" cy="2865120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4322446"/>
            <a:ext cx="4800600" cy="1986914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8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4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2051688"/>
            <a:ext cx="5520690" cy="3423284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5507358"/>
            <a:ext cx="5520690" cy="1800224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2190750"/>
            <a:ext cx="27203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2190750"/>
            <a:ext cx="27203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8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38152"/>
            <a:ext cx="552069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2017396"/>
            <a:ext cx="2707838" cy="988694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3006090"/>
            <a:ext cx="270783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2017396"/>
            <a:ext cx="2721174" cy="988694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3006090"/>
            <a:ext cx="272117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6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3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548640"/>
            <a:ext cx="2064425" cy="19202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1184912"/>
            <a:ext cx="3240405" cy="5848350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468880"/>
            <a:ext cx="2064425" cy="4573906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1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548640"/>
            <a:ext cx="2064425" cy="192024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1184912"/>
            <a:ext cx="3240405" cy="5848350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468880"/>
            <a:ext cx="2064425" cy="4573906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9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6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438150"/>
            <a:ext cx="1380173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438150"/>
            <a:ext cx="4060508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1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438152"/>
            <a:ext cx="552069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2190750"/>
            <a:ext cx="552069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7627622"/>
            <a:ext cx="14401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CC152-055A-8847-888F-AFAE4F1C53D3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7627622"/>
            <a:ext cx="21602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7627622"/>
            <a:ext cx="14401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EF78A-A1DA-1F45-9367-BF0F7F26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E86B8AD-E4F0-E228-43DC-7950564C9491}"/>
              </a:ext>
            </a:extLst>
          </p:cNvPr>
          <p:cNvSpPr txBox="1"/>
          <p:nvPr/>
        </p:nvSpPr>
        <p:spPr>
          <a:xfrm>
            <a:off x="120515" y="810108"/>
            <a:ext cx="1638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Dummy example data,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df_raw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5B30F-6800-C222-6E51-24FA5B7CCE78}"/>
              </a:ext>
            </a:extLst>
          </p:cNvPr>
          <p:cNvSpPr txBox="1"/>
          <p:nvPr/>
        </p:nvSpPr>
        <p:spPr>
          <a:xfrm>
            <a:off x="120515" y="-5021"/>
            <a:ext cx="1521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Raw traffic count data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D026847-1F0C-6C49-8358-30D06254F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44964"/>
              </p:ext>
            </p:extLst>
          </p:nvPr>
        </p:nvGraphicFramePr>
        <p:xfrm>
          <a:off x="1856939" y="624075"/>
          <a:ext cx="4138344" cy="1005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4302">
                  <a:extLst>
                    <a:ext uri="{9D8B030D-6E8A-4147-A177-3AD203B41FA5}">
                      <a16:colId xmlns:a16="http://schemas.microsoft.com/office/drawing/2014/main" val="248349531"/>
                    </a:ext>
                  </a:extLst>
                </a:gridCol>
                <a:gridCol w="824350">
                  <a:extLst>
                    <a:ext uri="{9D8B030D-6E8A-4147-A177-3AD203B41FA5}">
                      <a16:colId xmlns:a16="http://schemas.microsoft.com/office/drawing/2014/main" val="469991870"/>
                    </a:ext>
                  </a:extLst>
                </a:gridCol>
                <a:gridCol w="804777">
                  <a:extLst>
                    <a:ext uri="{9D8B030D-6E8A-4147-A177-3AD203B41FA5}">
                      <a16:colId xmlns:a16="http://schemas.microsoft.com/office/drawing/2014/main" val="2302235787"/>
                    </a:ext>
                  </a:extLst>
                </a:gridCol>
                <a:gridCol w="814592">
                  <a:extLst>
                    <a:ext uri="{9D8B030D-6E8A-4147-A177-3AD203B41FA5}">
                      <a16:colId xmlns:a16="http://schemas.microsoft.com/office/drawing/2014/main" val="4279161896"/>
                    </a:ext>
                  </a:extLst>
                </a:gridCol>
                <a:gridCol w="814592">
                  <a:extLst>
                    <a:ext uri="{9D8B030D-6E8A-4147-A177-3AD203B41FA5}">
                      <a16:colId xmlns:a16="http://schemas.microsoft.com/office/drawing/2014/main" val="1444736919"/>
                    </a:ext>
                  </a:extLst>
                </a:gridCol>
                <a:gridCol w="225731">
                  <a:extLst>
                    <a:ext uri="{9D8B030D-6E8A-4147-A177-3AD203B41FA5}">
                      <a16:colId xmlns:a16="http://schemas.microsoft.com/office/drawing/2014/main" val="1826990059"/>
                    </a:ext>
                  </a:extLst>
                </a:gridCol>
              </a:tblGrid>
              <a:tr h="523230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datetime</a:t>
                      </a:r>
                    </a:p>
                  </a:txBody>
                  <a:tcPr marL="45720" marR="4572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&lt;station&gt;. &lt;direction1&gt;. &lt;trafficType1&gt;.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marL="45720" marR="45720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&lt;station&gt;.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&lt;direction1&gt;.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&lt;trafficType1&gt; </a:t>
                      </a: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.suspect</a:t>
                      </a:r>
                    </a:p>
                  </a:txBody>
                  <a:tcPr marL="45720" marR="45720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&lt;station&gt;. &lt;direction1&gt;. &lt;trafficType2&gt;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.value</a:t>
                      </a:r>
                    </a:p>
                  </a:txBody>
                  <a:tcPr marL="45720" marR="4572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&lt;station&gt;.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&lt;direction1&gt;.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&lt;trafficType2&gt; </a:t>
                      </a: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.suspect</a:t>
                      </a:r>
                    </a:p>
                  </a:txBody>
                  <a:tcPr marL="45720" marR="4572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45720" marR="4572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247712"/>
                  </a:ext>
                </a:extLst>
              </a:tr>
              <a:tr h="192769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&lt;text&gt;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&lt;integer&gt;</a:t>
                      </a:r>
                    </a:p>
                  </a:txBody>
                  <a:tcPr marL="45720" marR="4572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&lt;code&gt;</a:t>
                      </a:r>
                    </a:p>
                  </a:txBody>
                  <a:tcPr marL="45720" marR="4572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&lt;integer&gt;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&lt;code&gt;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45720" marR="4572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65986"/>
                  </a:ext>
                </a:extLst>
              </a:tr>
              <a:tr h="192769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&lt;text&gt;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&lt;integer&gt;</a:t>
                      </a:r>
                    </a:p>
                  </a:txBody>
                  <a:tcPr marL="45720" marR="4572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&lt;code&gt;</a:t>
                      </a:r>
                    </a:p>
                  </a:txBody>
                  <a:tcPr marL="45720" marR="4572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&lt;integer&gt;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&lt;code&gt;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45720" marR="4572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4940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E6A16EB-E3E4-A59F-94B2-8A807EF15F68}"/>
              </a:ext>
            </a:extLst>
          </p:cNvPr>
          <p:cNvSpPr txBox="1"/>
          <p:nvPr/>
        </p:nvSpPr>
        <p:spPr>
          <a:xfrm>
            <a:off x="120515" y="1727478"/>
            <a:ext cx="1353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Formatting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01C643D-9B36-BA22-68F2-C7ACF3C2F425}"/>
              </a:ext>
            </a:extLst>
          </p:cNvPr>
          <p:cNvCxnSpPr>
            <a:cxnSpLocks/>
          </p:cNvCxnSpPr>
          <p:nvPr/>
        </p:nvCxnSpPr>
        <p:spPr>
          <a:xfrm>
            <a:off x="123758" y="1724237"/>
            <a:ext cx="615328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82839EA-64F6-1DF8-3AA3-72D470FB4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362955"/>
              </p:ext>
            </p:extLst>
          </p:nvPr>
        </p:nvGraphicFramePr>
        <p:xfrm>
          <a:off x="2672782" y="2735632"/>
          <a:ext cx="3604261" cy="85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29603">
                  <a:extLst>
                    <a:ext uri="{9D8B030D-6E8A-4147-A177-3AD203B41FA5}">
                      <a16:colId xmlns:a16="http://schemas.microsoft.com/office/drawing/2014/main" val="248349531"/>
                    </a:ext>
                  </a:extLst>
                </a:gridCol>
                <a:gridCol w="1807528">
                  <a:extLst>
                    <a:ext uri="{9D8B030D-6E8A-4147-A177-3AD203B41FA5}">
                      <a16:colId xmlns:a16="http://schemas.microsoft.com/office/drawing/2014/main" val="469991870"/>
                    </a:ext>
                  </a:extLst>
                </a:gridCol>
                <a:gridCol w="583565">
                  <a:extLst>
                    <a:ext uri="{9D8B030D-6E8A-4147-A177-3AD203B41FA5}">
                      <a16:colId xmlns:a16="http://schemas.microsoft.com/office/drawing/2014/main" val="2302235787"/>
                    </a:ext>
                  </a:extLst>
                </a:gridCol>
                <a:gridCol w="583565">
                  <a:extLst>
                    <a:ext uri="{9D8B030D-6E8A-4147-A177-3AD203B41FA5}">
                      <a16:colId xmlns:a16="http://schemas.microsoft.com/office/drawing/2014/main" val="4279161896"/>
                    </a:ext>
                  </a:extLst>
                </a:gridCol>
              </a:tblGrid>
              <a:tr h="118317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datetime</a:t>
                      </a:r>
                    </a:p>
                  </a:txBody>
                  <a:tcPr marL="45720" marR="4572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</a:p>
                  </a:txBody>
                  <a:tcPr marL="45720" marR="4572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marL="45720" marR="4572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</a:t>
                      </a:r>
                    </a:p>
                  </a:txBody>
                  <a:tcPr marL="45720" marR="4572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247712"/>
                  </a:ext>
                </a:extLst>
              </a:tr>
              <a:tr h="133370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&lt;text&gt;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&lt;station&gt;.&lt;direction1&gt;.&lt;trafficType1&gt;</a:t>
                      </a:r>
                      <a:endParaRPr lang="en-US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&lt;integer&gt;</a:t>
                      </a:r>
                    </a:p>
                  </a:txBody>
                  <a:tcPr marL="45720" marR="4572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&lt;code&gt;</a:t>
                      </a:r>
                    </a:p>
                  </a:txBody>
                  <a:tcPr marL="45720" marR="4572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65986"/>
                  </a:ext>
                </a:extLst>
              </a:tr>
              <a:tr h="133370"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&lt;text&gt;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&lt;station&gt;.&lt;direction1&gt;.&lt;trafficType2&gt;</a:t>
                      </a:r>
                      <a:endParaRPr lang="en-US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&lt;integer&gt;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&lt;code&gt;</a:t>
                      </a:r>
                    </a:p>
                  </a:txBody>
                  <a:tcPr marL="45720" marR="4572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4940"/>
                  </a:ext>
                </a:extLst>
              </a:tr>
              <a:tr h="133370">
                <a:tc>
                  <a:txBody>
                    <a:bodyPr/>
                    <a:lstStyle/>
                    <a:p>
                      <a:pPr marL="0" marR="0" lvl="0" indent="0" algn="l" defTabSz="640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&lt;text&gt;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45720" marR="4572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&lt;integer&gt;</a:t>
                      </a:r>
                    </a:p>
                  </a:txBody>
                  <a:tcPr marL="45720" marR="4572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&lt;code&gt;</a:t>
                      </a:r>
                    </a:p>
                  </a:txBody>
                  <a:tcPr marL="45720" marR="4572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074270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AA4FD345-F9E8-5F82-24D3-6F95F3622547}"/>
              </a:ext>
            </a:extLst>
          </p:cNvPr>
          <p:cNvSpPr txBox="1"/>
          <p:nvPr/>
        </p:nvSpPr>
        <p:spPr>
          <a:xfrm>
            <a:off x="2557276" y="26551"/>
            <a:ext cx="155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Count (value) and validity (suspect), specific to a given station, direction, traffic type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ADAAC642-8E79-4504-F5C1-4A40CBCDD591}"/>
              </a:ext>
            </a:extLst>
          </p:cNvPr>
          <p:cNvSpPr/>
          <p:nvPr/>
        </p:nvSpPr>
        <p:spPr>
          <a:xfrm rot="5400000">
            <a:off x="3265881" y="56743"/>
            <a:ext cx="141005" cy="890763"/>
          </a:xfrm>
          <a:prstGeom prst="leftBrace">
            <a:avLst>
              <a:gd name="adj1" fmla="val 28615"/>
              <a:gd name="adj2" fmla="val 50000"/>
            </a:avLst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557284-E745-865D-76FA-A28CB553DD15}"/>
              </a:ext>
            </a:extLst>
          </p:cNvPr>
          <p:cNvSpPr txBox="1"/>
          <p:nvPr/>
        </p:nvSpPr>
        <p:spPr>
          <a:xfrm>
            <a:off x="4211050" y="18408"/>
            <a:ext cx="155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Value &amp; suspect pair for another station, direction, traffic type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486A65DF-E58E-57BA-C6F4-2DAECFACEB20}"/>
              </a:ext>
            </a:extLst>
          </p:cNvPr>
          <p:cNvSpPr/>
          <p:nvPr/>
        </p:nvSpPr>
        <p:spPr>
          <a:xfrm rot="5400000">
            <a:off x="4919655" y="56743"/>
            <a:ext cx="141005" cy="890763"/>
          </a:xfrm>
          <a:prstGeom prst="leftBrace">
            <a:avLst>
              <a:gd name="adj1" fmla="val 28615"/>
              <a:gd name="adj2" fmla="val 50000"/>
            </a:avLst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F635EB-0A32-8E6C-DE88-BFCB867A914F}"/>
              </a:ext>
            </a:extLst>
          </p:cNvPr>
          <p:cNvSpPr txBox="1"/>
          <p:nvPr/>
        </p:nvSpPr>
        <p:spPr>
          <a:xfrm>
            <a:off x="86337" y="2151496"/>
            <a:ext cx="20813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Drop columns where every observation is missing</a:t>
            </a:r>
          </a:p>
          <a:p>
            <a:pPr marL="228600" indent="-228600" algn="l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Pivot the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longer</a:t>
            </a:r>
          </a:p>
          <a:p>
            <a:pPr marL="228600" indent="-228600" algn="l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Remove any rows where values are missing</a:t>
            </a:r>
          </a:p>
          <a:p>
            <a:pPr marL="228600" indent="-228600" algn="l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Remove observations which are invalid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B74D55-8582-ABE1-38FB-AB33F3A961B3}"/>
              </a:ext>
            </a:extLst>
          </p:cNvPr>
          <p:cNvGrpSpPr/>
          <p:nvPr/>
        </p:nvGrpSpPr>
        <p:grpSpPr>
          <a:xfrm>
            <a:off x="1501565" y="1766046"/>
            <a:ext cx="5118709" cy="954107"/>
            <a:chOff x="1242741" y="1793680"/>
            <a:chExt cx="5118709" cy="95410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EEE4EBA-6D7C-6FEF-819A-AC56BD222BD5}"/>
                </a:ext>
              </a:extLst>
            </p:cNvPr>
            <p:cNvSpPr txBox="1"/>
            <p:nvPr/>
          </p:nvSpPr>
          <p:spPr>
            <a:xfrm>
              <a:off x="1242741" y="1793680"/>
              <a:ext cx="511870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df_for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&lt;-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df_raw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|&gt;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dplyr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::select(where(~ !all(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is.na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(.)))) |&gt;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pivot_longer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(cols = -datetime,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names_to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c("station", ".value"),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names_pattern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"^(.*)\\.(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suspect|value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)$") |&gt; 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drop_na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(value) |&gt; 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</a:t>
              </a:r>
              <a:r>
                <a:rPr lang="en-US" sz="3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filter(suspect %in% c("ABV","IO2","IO3","IO4","IO5","IO6","VAL")) 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CAF3E98-978C-3F4E-CF92-E0CEE617243C}"/>
                </a:ext>
              </a:extLst>
            </p:cNvPr>
            <p:cNvSpPr/>
            <p:nvPr/>
          </p:nvSpPr>
          <p:spPr>
            <a:xfrm>
              <a:off x="2085228" y="1976341"/>
              <a:ext cx="99094" cy="91177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C327E69-2A55-DBF8-7E76-1A3AA4081A7D}"/>
                </a:ext>
              </a:extLst>
            </p:cNvPr>
            <p:cNvSpPr/>
            <p:nvPr/>
          </p:nvSpPr>
          <p:spPr>
            <a:xfrm>
              <a:off x="2085228" y="2102075"/>
              <a:ext cx="99094" cy="91177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BB6A042-0BDE-2A2E-8EBC-A69F3991CB04}"/>
                </a:ext>
              </a:extLst>
            </p:cNvPr>
            <p:cNvSpPr/>
            <p:nvPr/>
          </p:nvSpPr>
          <p:spPr>
            <a:xfrm>
              <a:off x="2084139" y="2468297"/>
              <a:ext cx="99094" cy="91177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F6F5E85-9EF3-AEBC-F55B-2309136F6050}"/>
                </a:ext>
              </a:extLst>
            </p:cNvPr>
            <p:cNvSpPr/>
            <p:nvPr/>
          </p:nvSpPr>
          <p:spPr>
            <a:xfrm>
              <a:off x="2084139" y="2583815"/>
              <a:ext cx="99094" cy="91177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E589CF8-8F99-FE72-AB37-F7003B6A5FDC}"/>
              </a:ext>
            </a:extLst>
          </p:cNvPr>
          <p:cNvSpPr txBox="1"/>
          <p:nvPr/>
        </p:nvSpPr>
        <p:spPr>
          <a:xfrm>
            <a:off x="2014104" y="3062870"/>
            <a:ext cx="1019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df_for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AD5736-99DF-6F2C-6F41-4971E72E1BFE}"/>
              </a:ext>
            </a:extLst>
          </p:cNvPr>
          <p:cNvSpPr txBox="1"/>
          <p:nvPr/>
        </p:nvSpPr>
        <p:spPr>
          <a:xfrm>
            <a:off x="120515" y="3657803"/>
            <a:ext cx="1353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06B197E-D088-6509-9FB8-A31A569ADBE5}"/>
              </a:ext>
            </a:extLst>
          </p:cNvPr>
          <p:cNvCxnSpPr>
            <a:cxnSpLocks/>
          </p:cNvCxnSpPr>
          <p:nvPr/>
        </p:nvCxnSpPr>
        <p:spPr>
          <a:xfrm>
            <a:off x="123758" y="3654562"/>
            <a:ext cx="615328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368A2AC-46BB-6D8B-45B7-6F59ADABE96D}"/>
              </a:ext>
            </a:extLst>
          </p:cNvPr>
          <p:cNvSpPr txBox="1"/>
          <p:nvPr/>
        </p:nvSpPr>
        <p:spPr>
          <a:xfrm>
            <a:off x="120515" y="4021226"/>
            <a:ext cx="22275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Format datetime into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POSIXct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. Obtain additional temporal info, calculate traffic type</a:t>
            </a:r>
          </a:p>
          <a:p>
            <a:pPr marL="228600" indent="-228600" algn="l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Filter out observations not in season, not during the day (7am-6pm), and traffic that is not bicycle or pedestrian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2F920F9-2764-A047-4616-24894C18C3DA}"/>
              </a:ext>
            </a:extLst>
          </p:cNvPr>
          <p:cNvGrpSpPr/>
          <p:nvPr/>
        </p:nvGrpSpPr>
        <p:grpSpPr>
          <a:xfrm>
            <a:off x="1501565" y="3682358"/>
            <a:ext cx="4823756" cy="1569660"/>
            <a:chOff x="1623074" y="3792126"/>
            <a:chExt cx="4823756" cy="156966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DF3F145-A798-4326-7CFF-F8CC3984D2D3}"/>
                </a:ext>
              </a:extLst>
            </p:cNvPr>
            <p:cNvSpPr txBox="1"/>
            <p:nvPr/>
          </p:nvSpPr>
          <p:spPr>
            <a:xfrm>
              <a:off x="1623074" y="3792126"/>
              <a:ext cx="482375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df_pre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&lt;-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df_for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|&gt;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     mutate(datetime =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lubridate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parse_date_time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(datetime),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	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TrafficTime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lubridate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::hour(datetime) + 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		        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lubridate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::minute(datetime)/60,</a:t>
              </a:r>
            </a:p>
            <a:p>
              <a:pPr lvl="2"/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Date =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as.Date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(datetime),</a:t>
              </a:r>
            </a:p>
            <a:p>
              <a:pPr lvl="2"/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Month =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lubridate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::month(datetime),</a:t>
              </a:r>
            </a:p>
            <a:p>
              <a:pPr lvl="2"/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TrafficType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case_when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grepl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('.Ped’, station) ~ 'Ped’,</a:t>
              </a:r>
            </a:p>
            <a:p>
              <a:pPr lvl="2"/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grepl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('.Bic’, station) ~ 'Bic’,</a:t>
              </a:r>
            </a:p>
            <a:p>
              <a:pPr lvl="2"/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TRUE ~ 'Other')) |&gt; 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</a:t>
              </a:r>
              <a:r>
                <a:rPr lang="en-US" sz="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filter(Month %in%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forecasting_season_months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[[region]],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	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TrafficTime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%in% seq(from = 7, to = 17.75, by = 0.25), 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TrafficType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!= 'Other')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1DD36F5-E763-279D-E47C-BA52A345E8D0}"/>
                </a:ext>
              </a:extLst>
            </p:cNvPr>
            <p:cNvSpPr/>
            <p:nvPr/>
          </p:nvSpPr>
          <p:spPr>
            <a:xfrm>
              <a:off x="2348058" y="3979216"/>
              <a:ext cx="99094" cy="91177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FACEDD4-AC82-50CA-86BE-B12854A73A99}"/>
                </a:ext>
              </a:extLst>
            </p:cNvPr>
            <p:cNvSpPr/>
            <p:nvPr/>
          </p:nvSpPr>
          <p:spPr>
            <a:xfrm>
              <a:off x="2348058" y="4941822"/>
              <a:ext cx="99094" cy="91177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6B6DC93-5280-CC8E-0687-7DBB5522FC92}"/>
              </a:ext>
            </a:extLst>
          </p:cNvPr>
          <p:cNvCxnSpPr>
            <a:cxnSpLocks/>
          </p:cNvCxnSpPr>
          <p:nvPr/>
        </p:nvCxnSpPr>
        <p:spPr>
          <a:xfrm>
            <a:off x="128422" y="5237467"/>
            <a:ext cx="615328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5BB583D-A9C5-9C04-BBE4-98BB6063140F}"/>
              </a:ext>
            </a:extLst>
          </p:cNvPr>
          <p:cNvSpPr txBox="1"/>
          <p:nvPr/>
        </p:nvSpPr>
        <p:spPr>
          <a:xfrm>
            <a:off x="86337" y="5244652"/>
            <a:ext cx="36533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Summarizing by time of day, and merging with other data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CC9AB9-E9E2-3973-CFC0-192F091C0FC4}"/>
              </a:ext>
            </a:extLst>
          </p:cNvPr>
          <p:cNvSpPr txBox="1"/>
          <p:nvPr/>
        </p:nvSpPr>
        <p:spPr>
          <a:xfrm>
            <a:off x="49845" y="5488767"/>
            <a:ext cx="149465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Obtain the time of day (TOD) 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Group by TOD/day/traffic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Calculate inclusion criteria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keep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keep2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for each group. These are based on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n_obs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n_dir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n_unique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. Filter by these criteria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Summarize the traffic count for each group*</a:t>
            </a:r>
          </a:p>
          <a:p>
            <a:pPr marL="228600" indent="-228600">
              <a:buAutoNum type="arabicParenR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Join with other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5ACFF97-3428-E0F1-F544-DA39C8554BC7}"/>
              </a:ext>
            </a:extLst>
          </p:cNvPr>
          <p:cNvGrpSpPr/>
          <p:nvPr/>
        </p:nvGrpSpPr>
        <p:grpSpPr>
          <a:xfrm>
            <a:off x="1501565" y="5506283"/>
            <a:ext cx="4875053" cy="2554545"/>
            <a:chOff x="1477381" y="5730798"/>
            <a:chExt cx="4875053" cy="2554545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2E8A493-4ED0-6F81-9866-2DAC16A600BE}"/>
                </a:ext>
              </a:extLst>
            </p:cNvPr>
            <p:cNvGrpSpPr/>
            <p:nvPr/>
          </p:nvGrpSpPr>
          <p:grpSpPr>
            <a:xfrm>
              <a:off x="1477381" y="5730798"/>
              <a:ext cx="4875053" cy="2554545"/>
              <a:chOff x="1501259" y="5835214"/>
              <a:chExt cx="4875053" cy="2554545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FC49E7E-A955-C2E0-6299-8A2CFEC5FC26}"/>
                  </a:ext>
                </a:extLst>
              </p:cNvPr>
              <p:cNvSpPr txBox="1"/>
              <p:nvPr/>
            </p:nvSpPr>
            <p:spPr>
              <a:xfrm>
                <a:off x="1501259" y="5835214"/>
                <a:ext cx="4875053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morning &lt;- seq(from = 7, to = 10.75, by = 0.25) # 7am-11am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midday &lt;- seq(from = 11, to = 13.75, by = 0.25) # 11am-2pm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afternoon &lt;- seq(from = 14, to = 17.75, by = 0.25) #2pm-6pm</a:t>
                </a:r>
              </a:p>
              <a:p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h_timeofday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&lt;- list(‘Morning’ = 4, ‘Midday’ = 3, ‘Afternoon’ = 4)</a:t>
                </a:r>
              </a:p>
              <a:p>
                <a:pPr algn="l"/>
                <a:endParaRPr lang="en-US" sz="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algn="l"/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df_fin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&lt;-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df_pre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|&gt;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mutate(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TimeOfDay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case_when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TrafficTime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%in% morning ~ 'Morning',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          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TrafficTime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%in% midday ~ 'Midday',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          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TrafficTime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%in% afternoon ~ 'Afternoon’,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Hours =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h_timeofday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[[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TimeOfDay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]]) |&gt;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group_by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(Date,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TimeOfDay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TrafficType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|&gt; 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mutate(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n_obs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n(), # total observations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n_dir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n_distinct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(station), # distinct directions per station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n_unique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n_distinct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TrafficTime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), # distinct time observations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keep =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n_obs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== Hours * 4 *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n_dir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# completeness check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keep2 =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n_obs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==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n_unique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*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n_dir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|&gt; # uniqueness check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filter(keep, keep2) |&gt; 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summarise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TrafficCount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sum(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TrafficCount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*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|&gt;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left_join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aqi_dates_df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by = c('Date')) |&gt; </a:t>
                </a:r>
              </a:p>
              <a:p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left_join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weather_df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by = c('Date','</a:t>
                </a:r>
                <a:r>
                  <a:rPr lang="en-US" sz="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TimeOfDay</a:t>
                </a:r>
                <a:r>
                  <a:rPr lang="en-US" sz="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'))</a:t>
                </a: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60C42DB-1FD7-16D3-CEC8-92D7F8CD8CD8}"/>
                  </a:ext>
                </a:extLst>
              </p:cNvPr>
              <p:cNvSpPr/>
              <p:nvPr/>
            </p:nvSpPr>
            <p:spPr>
              <a:xfrm>
                <a:off x="1816783" y="6631263"/>
                <a:ext cx="99094" cy="9117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2918F82F-3127-ABE9-D587-153EB07F8E8B}"/>
                  </a:ext>
                </a:extLst>
              </p:cNvPr>
              <p:cNvSpPr/>
              <p:nvPr/>
            </p:nvSpPr>
            <p:spPr>
              <a:xfrm>
                <a:off x="1820981" y="7128725"/>
                <a:ext cx="99094" cy="9117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6CF13964-785D-61A4-21E6-6D90C2EAF44E}"/>
                  </a:ext>
                </a:extLst>
              </p:cNvPr>
              <p:cNvSpPr/>
              <p:nvPr/>
            </p:nvSpPr>
            <p:spPr>
              <a:xfrm>
                <a:off x="1816352" y="7968962"/>
                <a:ext cx="99094" cy="9117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EC6233A3-46D9-4837-5DF7-47AB40937698}"/>
                </a:ext>
              </a:extLst>
            </p:cNvPr>
            <p:cNvSpPr/>
            <p:nvPr/>
          </p:nvSpPr>
          <p:spPr>
            <a:xfrm>
              <a:off x="1792905" y="7997549"/>
              <a:ext cx="99094" cy="91177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572B102-6944-88A6-658E-7CE194AEB06D}"/>
              </a:ext>
            </a:extLst>
          </p:cNvPr>
          <p:cNvSpPr/>
          <p:nvPr/>
        </p:nvSpPr>
        <p:spPr>
          <a:xfrm>
            <a:off x="1821287" y="6919015"/>
            <a:ext cx="99094" cy="91177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70AC0-98FA-1B9F-543D-0CA0B89B484E}"/>
              </a:ext>
            </a:extLst>
          </p:cNvPr>
          <p:cNvSpPr txBox="1"/>
          <p:nvPr/>
        </p:nvSpPr>
        <p:spPr>
          <a:xfrm>
            <a:off x="1225577" y="8038148"/>
            <a:ext cx="52790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*Stations with at least 1 non-integer count observation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TrafficCount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%%1 !=0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) were filtered out after step 4.</a:t>
            </a:r>
          </a:p>
        </p:txBody>
      </p:sp>
    </p:spTree>
    <p:extLst>
      <p:ext uri="{BB962C8B-B14F-4D97-AF65-F5344CB8AC3E}">
        <p14:creationId xmlns:p14="http://schemas.microsoft.com/office/powerpoint/2010/main" val="2980477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1000" dirty="0" err="1">
            <a:latin typeface="Courier New" panose="02070309020205020404" pitchFamily="49" charset="0"/>
            <a:cs typeface="Courier New" panose="020703090202050204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</TotalTime>
  <Words>836</Words>
  <Application>Microsoft Macintosh PowerPoint</Application>
  <PresentationFormat>Custom</PresentationFormat>
  <Paragraphs>111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M Coleman</dc:creator>
  <cp:lastModifiedBy>Sarah M Coleman</cp:lastModifiedBy>
  <cp:revision>10</cp:revision>
  <dcterms:created xsi:type="dcterms:W3CDTF">2025-10-20T17:52:25Z</dcterms:created>
  <dcterms:modified xsi:type="dcterms:W3CDTF">2025-10-20T21:43:02Z</dcterms:modified>
</cp:coreProperties>
</file>